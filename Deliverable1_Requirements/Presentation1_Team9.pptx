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9" r:id="rId13"/>
    <p:sldId id="270" r:id="rId14"/>
    <p:sldId id="271" r:id="rId15"/>
    <p:sldId id="264" r:id="rId16"/>
    <p:sldId id="265" r:id="rId17"/>
    <p:sldId id="266" r:id="rId18"/>
    <p:sldId id="267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41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39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82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75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73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06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51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55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207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10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75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0558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E524F2-C7AF-4466-BA99-09C19DE0D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arble with brown and aqua colors">
            <a:extLst>
              <a:ext uri="{FF2B5EF4-FFF2-40B4-BE49-F238E27FC236}">
                <a16:creationId xmlns:a16="http://schemas.microsoft.com/office/drawing/2014/main" id="{DB37BF1F-A3BB-6A75-43F2-4FFAB0DA83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92" b="16283"/>
          <a:stretch>
            <a:fillRect/>
          </a:stretch>
        </p:blipFill>
        <p:spPr>
          <a:xfrm>
            <a:off x="12310" y="-3"/>
            <a:ext cx="12191979" cy="6858004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04E317E-14BB-4200-84F3-2064B4C97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3854" y="1544347"/>
            <a:ext cx="4676439" cy="5313651"/>
          </a:xfrm>
          <a:custGeom>
            <a:avLst/>
            <a:gdLst>
              <a:gd name="connsiteX0" fmla="*/ 6846874 w 6846874"/>
              <a:gd name="connsiteY0" fmla="*/ 3021586 h 3021586"/>
              <a:gd name="connsiteX1" fmla="*/ 0 w 6846874"/>
              <a:gd name="connsiteY1" fmla="*/ 3021585 h 3021586"/>
              <a:gd name="connsiteX2" fmla="*/ 3399286 w 6846874"/>
              <a:gd name="connsiteY2" fmla="*/ 0 h 3021586"/>
              <a:gd name="connsiteX0" fmla="*/ 6846874 w 6846874"/>
              <a:gd name="connsiteY0" fmla="*/ 3016405 h 3016405"/>
              <a:gd name="connsiteX1" fmla="*/ 0 w 6846874"/>
              <a:gd name="connsiteY1" fmla="*/ 3016404 h 3016405"/>
              <a:gd name="connsiteX2" fmla="*/ 3425190 w 6846874"/>
              <a:gd name="connsiteY2" fmla="*/ 0 h 3016405"/>
              <a:gd name="connsiteX3" fmla="*/ 6846874 w 6846874"/>
              <a:gd name="connsiteY3" fmla="*/ 3016405 h 3016405"/>
              <a:gd name="connsiteX0" fmla="*/ 6846874 w 6846874"/>
              <a:gd name="connsiteY0" fmla="*/ 3055286 h 3055286"/>
              <a:gd name="connsiteX1" fmla="*/ 0 w 6846874"/>
              <a:gd name="connsiteY1" fmla="*/ 3055285 h 3055286"/>
              <a:gd name="connsiteX2" fmla="*/ 3425190 w 6846874"/>
              <a:gd name="connsiteY2" fmla="*/ 0 h 3055286"/>
              <a:gd name="connsiteX3" fmla="*/ 6846874 w 6846874"/>
              <a:gd name="connsiteY3" fmla="*/ 3055286 h 3055286"/>
              <a:gd name="connsiteX0" fmla="*/ 6846874 w 6846874"/>
              <a:gd name="connsiteY0" fmla="*/ 5422604 h 5422604"/>
              <a:gd name="connsiteX1" fmla="*/ 0 w 6846874"/>
              <a:gd name="connsiteY1" fmla="*/ 5422603 h 5422604"/>
              <a:gd name="connsiteX2" fmla="*/ 6839561 w 6846874"/>
              <a:gd name="connsiteY2" fmla="*/ 0 h 5422604"/>
              <a:gd name="connsiteX3" fmla="*/ 6846874 w 6846874"/>
              <a:gd name="connsiteY3" fmla="*/ 5422604 h 5422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6874" h="5422604">
                <a:moveTo>
                  <a:pt x="6846874" y="5422604"/>
                </a:moveTo>
                <a:lnTo>
                  <a:pt x="0" y="5422603"/>
                </a:lnTo>
                <a:lnTo>
                  <a:pt x="6839561" y="0"/>
                </a:lnTo>
                <a:cubicBezTo>
                  <a:pt x="6841999" y="1807535"/>
                  <a:pt x="6844436" y="3615069"/>
                  <a:pt x="6846874" y="5422604"/>
                </a:cubicBez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DF94A24-8152-43C5-86F3-5CC95D809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A437BF-1365-EB95-B26A-CCAFD6D38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09585"/>
            <a:ext cx="5788743" cy="932835"/>
          </a:xfrm>
        </p:spPr>
        <p:txBody>
          <a:bodyPr anchor="t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mENUmap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F0C7BB-10E0-4A14-D209-431B3F0E4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136" y="3429553"/>
            <a:ext cx="6398163" cy="209743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Evelio Gonzalez – Minute Keeper,</a:t>
            </a:r>
            <a:endParaRPr lang="en-US" sz="2400"/>
          </a:p>
          <a:p>
            <a:r>
              <a:rPr lang="en-US" sz="2400">
                <a:solidFill>
                  <a:srgbClr val="FFFFFF"/>
                </a:solidFill>
              </a:rPr>
              <a:t>Alfonso Oramas – Team Leader,</a:t>
            </a:r>
          </a:p>
          <a:p>
            <a:r>
              <a:rPr lang="en-US" sz="2400">
                <a:solidFill>
                  <a:srgbClr val="FFFFFF"/>
                </a:solidFill>
              </a:rPr>
              <a:t>Andrew Lewis – Document Editor &amp; Diagram Coordinator,</a:t>
            </a:r>
          </a:p>
          <a:p>
            <a:r>
              <a:rPr lang="en-US" sz="2400">
                <a:solidFill>
                  <a:srgbClr val="FFFFFF"/>
                </a:solidFill>
              </a:rPr>
              <a:t>Alexandra Cozar – Time Keeper,</a:t>
            </a:r>
          </a:p>
          <a:p>
            <a:r>
              <a:rPr lang="en-US" sz="2400">
                <a:solidFill>
                  <a:srgbClr val="FFFFFF"/>
                </a:solidFill>
              </a:rPr>
              <a:t>Kamal Ayoub – Team Member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3277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BE0CB-BFA1-0BBD-6AB2-32B5C9B2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Purpose of system and scope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6D9B2-ACF7-9DB0-26C9-AC5F0E8A2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The Goal of MenuMap is to enhance the dining discovery experience by bridging the gap between restaurants and customers, by providing user-verified menus through a GPS-enabled platform.</a:t>
            </a:r>
          </a:p>
          <a:p>
            <a:r>
              <a:rPr lang="en-US" sz="2400"/>
              <a:t>The MenuMap users will be using this application through the iOS and Android mobile platforms.</a:t>
            </a:r>
          </a:p>
        </p:txBody>
      </p:sp>
    </p:spTree>
    <p:extLst>
      <p:ext uri="{BB962C8B-B14F-4D97-AF65-F5344CB8AC3E}">
        <p14:creationId xmlns:p14="http://schemas.microsoft.com/office/powerpoint/2010/main" val="3594016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FF5E708-AF5A-50D5-A628-BD88AB5145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177749"/>
              </p:ext>
            </p:extLst>
          </p:nvPr>
        </p:nvGraphicFramePr>
        <p:xfrm>
          <a:off x="0" y="-25830"/>
          <a:ext cx="12354711" cy="68901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82305">
                  <a:extLst>
                    <a:ext uri="{9D8B030D-6E8A-4147-A177-3AD203B41FA5}">
                      <a16:colId xmlns:a16="http://schemas.microsoft.com/office/drawing/2014/main" val="1253726739"/>
                    </a:ext>
                  </a:extLst>
                </a:gridCol>
                <a:gridCol w="2802607">
                  <a:extLst>
                    <a:ext uri="{9D8B030D-6E8A-4147-A177-3AD203B41FA5}">
                      <a16:colId xmlns:a16="http://schemas.microsoft.com/office/drawing/2014/main" val="3630479515"/>
                    </a:ext>
                  </a:extLst>
                </a:gridCol>
                <a:gridCol w="1901118">
                  <a:extLst>
                    <a:ext uri="{9D8B030D-6E8A-4147-A177-3AD203B41FA5}">
                      <a16:colId xmlns:a16="http://schemas.microsoft.com/office/drawing/2014/main" val="122714985"/>
                    </a:ext>
                  </a:extLst>
                </a:gridCol>
                <a:gridCol w="2234339">
                  <a:extLst>
                    <a:ext uri="{9D8B030D-6E8A-4147-A177-3AD203B41FA5}">
                      <a16:colId xmlns:a16="http://schemas.microsoft.com/office/drawing/2014/main" val="2151804248"/>
                    </a:ext>
                  </a:extLst>
                </a:gridCol>
                <a:gridCol w="3634342">
                  <a:extLst>
                    <a:ext uri="{9D8B030D-6E8A-4147-A177-3AD203B41FA5}">
                      <a16:colId xmlns:a16="http://schemas.microsoft.com/office/drawing/2014/main" val="2519257258"/>
                    </a:ext>
                  </a:extLst>
                </a:gridCol>
              </a:tblGrid>
              <a:tr h="1149457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Task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Task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Milestones / Deliverables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Dependencies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91372"/>
                  </a:ext>
                </a:extLst>
              </a:tr>
              <a:tr h="832989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Requirements Elicitation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2 Weeks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99188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Project Proposal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1 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Approved Proposal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T1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7029780"/>
                  </a:ext>
                </a:extLst>
              </a:tr>
              <a:tr h="832989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Use Case Designs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5 Weeks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Use Case Designs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T2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6753176"/>
                  </a:ext>
                </a:extLst>
              </a:tr>
              <a:tr h="774915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Security Use Case Designs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4 Weeks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Security Use Case Designs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T2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6706274"/>
                  </a:ext>
                </a:extLst>
              </a:tr>
              <a:tr h="865322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Prototype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7 Weeks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Working Prototype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T3, T4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5207"/>
                  </a:ext>
                </a:extLst>
              </a:tr>
              <a:tr h="832989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T6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Testing /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3 Weeks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T5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3074994"/>
                  </a:ext>
                </a:extLst>
              </a:tr>
              <a:tr h="839491"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T7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Feedback Based Changes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4 Weeks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Client-corrected Prototype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/>
                        <a:t>T6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9229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563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AD321-1193-F43D-AA2B-3C9172B47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UML diagram of use cases that will be implemented</a:t>
            </a:r>
            <a:br>
              <a:rPr lang="en-US"/>
            </a:br>
            <a:endParaRPr lang="en-US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0C9A1F-EE11-F312-6C26-E48A8ED15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8748" y="1339989"/>
            <a:ext cx="6174388" cy="48323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AD0EED-1F68-49E7-0AEA-104DF79CF72D}"/>
              </a:ext>
            </a:extLst>
          </p:cNvPr>
          <p:cNvSpPr txBox="1"/>
          <p:nvPr/>
        </p:nvSpPr>
        <p:spPr>
          <a:xfrm>
            <a:off x="1143000" y="2782669"/>
            <a:ext cx="60935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30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556136B-F847-4828-9D7C-3A2F2118B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203" y="-4"/>
            <a:ext cx="8239927" cy="6858000"/>
          </a:xfrm>
          <a:custGeom>
            <a:avLst/>
            <a:gdLst>
              <a:gd name="connsiteX0" fmla="*/ 6010593 w 8239927"/>
              <a:gd name="connsiteY0" fmla="*/ 0 h 6858000"/>
              <a:gd name="connsiteX1" fmla="*/ 8239927 w 8239927"/>
              <a:gd name="connsiteY1" fmla="*/ 0 h 6858000"/>
              <a:gd name="connsiteX2" fmla="*/ 2229335 w 8239927"/>
              <a:gd name="connsiteY2" fmla="*/ 6858000 h 6858000"/>
              <a:gd name="connsiteX3" fmla="*/ 0 w 82399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9927" h="6858000">
                <a:moveTo>
                  <a:pt x="6010593" y="0"/>
                </a:moveTo>
                <a:lnTo>
                  <a:pt x="8239927" y="0"/>
                </a:lnTo>
                <a:lnTo>
                  <a:pt x="22293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FC57B-9813-2109-3987-C1BFDFD55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181099"/>
            <a:ext cx="3965840" cy="1455911"/>
          </a:xfrm>
        </p:spPr>
        <p:txBody>
          <a:bodyPr anchor="t">
            <a:normAutofit/>
          </a:bodyPr>
          <a:lstStyle/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3400">
                <a:ea typeface="+mj-lt"/>
                <a:cs typeface="+mj-lt"/>
              </a:rPr>
              <a:t>UC-001: Browse Restaurant Menus</a:t>
            </a:r>
            <a:endParaRPr lang="en-US" sz="3400"/>
          </a:p>
          <a:p>
            <a:pPr>
              <a:lnSpc>
                <a:spcPct val="90000"/>
              </a:lnSpc>
            </a:pPr>
            <a:endParaRPr lang="en-US" sz="3400"/>
          </a:p>
        </p:txBody>
      </p:sp>
      <p:pic>
        <p:nvPicPr>
          <p:cNvPr id="5" name="Content Placeholder 4" descr="A diagram of a restaurant menu">
            <a:extLst>
              <a:ext uri="{FF2B5EF4-FFF2-40B4-BE49-F238E27FC236}">
                <a16:creationId xmlns:a16="http://schemas.microsoft.com/office/drawing/2014/main" id="{71B4D0AB-A2DA-F028-489E-4E53DC336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934" y="1715058"/>
            <a:ext cx="3997548" cy="2492913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AFF2BA-9D0D-1BED-5194-01D10FB7D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2" y="2525497"/>
            <a:ext cx="6199480" cy="3641060"/>
          </a:xfr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endParaRPr lang="en-US" sz="1000" b="1">
              <a:solidFill>
                <a:srgbClr val="F3F3F3"/>
              </a:solidFill>
              <a:ea typeface="+mn-lt"/>
              <a:cs typeface="+mn-lt"/>
            </a:endParaRPr>
          </a:p>
          <a:p>
            <a:endParaRPr lang="en-US" sz="1000" b="1">
              <a:solidFill>
                <a:srgbClr val="F3F3F3"/>
              </a:solidFill>
              <a:ea typeface="+mn-lt"/>
              <a:cs typeface="+mn-lt"/>
            </a:endParaRPr>
          </a:p>
          <a:p>
            <a:endParaRPr lang="en-US" sz="1000" b="1">
              <a:solidFill>
                <a:srgbClr val="F3F3F3"/>
              </a:solidFill>
              <a:ea typeface="+mn-lt"/>
              <a:cs typeface="+mn-lt"/>
            </a:endParaRPr>
          </a:p>
          <a:p>
            <a:r>
              <a:rPr lang="en-US" sz="1000" b="1" dirty="0">
                <a:solidFill>
                  <a:srgbClr val="F3F3F3"/>
                </a:solidFill>
                <a:ea typeface="+mn-lt"/>
                <a:cs typeface="+mn-lt"/>
              </a:rPr>
              <a:t>Use Case Description</a:t>
            </a:r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"Allows users to search and browse restaurant menus by cuisine, location, or specific items"</a:t>
            </a:r>
            <a:endParaRPr lang="en-US" dirty="0"/>
          </a:p>
          <a:p>
            <a:r>
              <a:rPr lang="en-US" sz="1000" b="1" dirty="0">
                <a:solidFill>
                  <a:srgbClr val="F3F3F3"/>
                </a:solidFill>
                <a:ea typeface="+mn-lt"/>
                <a:cs typeface="+mn-lt"/>
              </a:rPr>
              <a:t>Actors</a:t>
            </a:r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User (Primary Actor)</a:t>
            </a:r>
            <a:endParaRPr lang="en-US" dirty="0"/>
          </a:p>
          <a:p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Restaurant Owner (Secondary Actor)</a:t>
            </a:r>
            <a:endParaRPr lang="en-US" dirty="0"/>
          </a:p>
          <a:p>
            <a:r>
              <a:rPr lang="en-US" sz="1000" dirty="0" err="1">
                <a:solidFill>
                  <a:srgbClr val="F3F3F3"/>
                </a:solidFill>
                <a:ea typeface="+mn-lt"/>
                <a:cs typeface="+mn-lt"/>
              </a:rPr>
              <a:t>MenuMap</a:t>
            </a:r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 System (System Actor)</a:t>
            </a:r>
            <a:endParaRPr lang="en-US" dirty="0"/>
          </a:p>
          <a:p>
            <a:r>
              <a:rPr lang="en-US" sz="1000" b="1" dirty="0">
                <a:solidFill>
                  <a:srgbClr val="F3F3F3"/>
                </a:solidFill>
                <a:ea typeface="+mn-lt"/>
                <a:cs typeface="+mn-lt"/>
              </a:rPr>
              <a:t>Key Scenarios</a:t>
            </a:r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"Sarah searches for Italian restaurants"</a:t>
            </a:r>
            <a:endParaRPr lang="en-US" dirty="0"/>
          </a:p>
          <a:p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"Mike browses by cuisine type (Mexican)"</a:t>
            </a:r>
            <a:endParaRPr lang="en-US" dirty="0"/>
          </a:p>
          <a:p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"Lisa searches for specific menu items (vegetarian burger)"</a:t>
            </a:r>
            <a:endParaRPr lang="en-US" sz="1000" dirty="0"/>
          </a:p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D997AC9-EE0E-4715-BB2E-3B72C08A9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376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20E7A4-EC2C-47C8-BE55-65771E3F2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CF23DDA-0D09-4FE5-AE88-EBBE5E024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885325" cy="6858000"/>
          </a:xfrm>
          <a:custGeom>
            <a:avLst/>
            <a:gdLst>
              <a:gd name="connsiteX0" fmla="*/ 4456883 w 6885325"/>
              <a:gd name="connsiteY0" fmla="*/ 6858000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4456884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5 w 6885325"/>
              <a:gd name="connsiteY6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5 w 6885325"/>
              <a:gd name="connsiteY5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5325" h="6858000">
                <a:moveTo>
                  <a:pt x="6885325" y="6857999"/>
                </a:moveTo>
                <a:lnTo>
                  <a:pt x="0" y="6858000"/>
                </a:lnTo>
                <a:lnTo>
                  <a:pt x="6010592" y="0"/>
                </a:lnTo>
                <a:lnTo>
                  <a:pt x="6885325" y="0"/>
                </a:lnTo>
                <a:lnTo>
                  <a:pt x="6885325" y="6857999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4E9D5B-0822-BD49-7673-CEBE631DB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181100"/>
            <a:ext cx="3894412" cy="191677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ea typeface="+mj-lt"/>
                <a:cs typeface="+mj-lt"/>
              </a:rPr>
              <a:t>UC-002: Manage Favorites</a:t>
            </a:r>
            <a:endParaRPr lang="en-US"/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F0F62F64-B55D-F0ED-06F5-C8204E21B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8252" y="1271654"/>
            <a:ext cx="4880273" cy="214900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16790FC-D9A3-B603-5E0F-5AB33AAFF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429" y="2808522"/>
            <a:ext cx="5858127" cy="3320404"/>
          </a:xfrm>
        </p:spPr>
        <p:txBody>
          <a:bodyPr anchor="b">
            <a:normAutofit lnSpcReduction="10000"/>
          </a:bodyPr>
          <a:lstStyle/>
          <a:p>
            <a:endParaRPr lang="en-US" sz="1000" b="1">
              <a:solidFill>
                <a:srgbClr val="F3F3F3"/>
              </a:solidFill>
              <a:ea typeface="+mn-lt"/>
              <a:cs typeface="+mn-lt"/>
            </a:endParaRPr>
          </a:p>
          <a:p>
            <a:endParaRPr lang="en-US" sz="1000" b="1">
              <a:solidFill>
                <a:srgbClr val="F3F3F3"/>
              </a:solidFill>
              <a:ea typeface="+mn-lt"/>
              <a:cs typeface="+mn-lt"/>
            </a:endParaRPr>
          </a:p>
          <a:p>
            <a:r>
              <a:rPr lang="en-US" sz="1000" b="1" dirty="0">
                <a:solidFill>
                  <a:srgbClr val="F3F3F3"/>
                </a:solidFill>
                <a:ea typeface="+mn-lt"/>
                <a:cs typeface="+mn-lt"/>
              </a:rPr>
              <a:t>Use Case Description</a:t>
            </a:r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"Enables registered users to save and organize their favorite restaurants and menu items"</a:t>
            </a:r>
            <a:endParaRPr lang="en-US" dirty="0"/>
          </a:p>
          <a:p>
            <a:r>
              <a:rPr lang="en-US" sz="1000" b="1" dirty="0">
                <a:solidFill>
                  <a:srgbClr val="F3F3F3"/>
                </a:solidFill>
                <a:ea typeface="+mn-lt"/>
                <a:cs typeface="+mn-lt"/>
              </a:rPr>
              <a:t>Actors</a:t>
            </a:r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Registered User (Primary Actor)</a:t>
            </a:r>
            <a:endParaRPr lang="en-US" dirty="0"/>
          </a:p>
          <a:p>
            <a:r>
              <a:rPr lang="en-US" sz="1000" dirty="0" err="1">
                <a:solidFill>
                  <a:srgbClr val="F3F3F3"/>
                </a:solidFill>
                <a:ea typeface="+mn-lt"/>
                <a:cs typeface="+mn-lt"/>
              </a:rPr>
              <a:t>MenuMap</a:t>
            </a:r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 System (System Actor)</a:t>
            </a:r>
            <a:endParaRPr lang="en-US" dirty="0"/>
          </a:p>
          <a:p>
            <a:r>
              <a:rPr lang="en-US" sz="1000" b="1" dirty="0">
                <a:solidFill>
                  <a:srgbClr val="F3F3F3"/>
                </a:solidFill>
                <a:ea typeface="+mn-lt"/>
                <a:cs typeface="+mn-lt"/>
              </a:rPr>
              <a:t>Key Scenarios</a:t>
            </a:r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"David adds restaurant to favorites"</a:t>
            </a:r>
            <a:endParaRPr lang="en-US" dirty="0"/>
          </a:p>
          <a:p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"Maria organizes favorites into categories"</a:t>
            </a:r>
            <a:endParaRPr lang="en-US" dirty="0"/>
          </a:p>
          <a:p>
            <a:r>
              <a:rPr lang="en-US" sz="1000" dirty="0">
                <a:solidFill>
                  <a:srgbClr val="F3F3F3"/>
                </a:solidFill>
                <a:ea typeface="+mn-lt"/>
                <a:cs typeface="+mn-lt"/>
              </a:rPr>
              <a:t>"Alex adds menu items to favorites"</a:t>
            </a:r>
            <a:endParaRPr lang="en-US" dirty="0"/>
          </a:p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6FD2F-248A-4AA1-8078-E26D6E69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817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556136B-F847-4828-9D7C-3A2F2118B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203" y="-4"/>
            <a:ext cx="8239927" cy="6858000"/>
          </a:xfrm>
          <a:custGeom>
            <a:avLst/>
            <a:gdLst>
              <a:gd name="connsiteX0" fmla="*/ 6010593 w 8239927"/>
              <a:gd name="connsiteY0" fmla="*/ 0 h 6858000"/>
              <a:gd name="connsiteX1" fmla="*/ 8239927 w 8239927"/>
              <a:gd name="connsiteY1" fmla="*/ 0 h 6858000"/>
              <a:gd name="connsiteX2" fmla="*/ 2229335 w 8239927"/>
              <a:gd name="connsiteY2" fmla="*/ 6858000 h 6858000"/>
              <a:gd name="connsiteX3" fmla="*/ 0 w 82399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9927" h="6858000">
                <a:moveTo>
                  <a:pt x="6010593" y="0"/>
                </a:moveTo>
                <a:lnTo>
                  <a:pt x="8239927" y="0"/>
                </a:lnTo>
                <a:lnTo>
                  <a:pt x="22293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22C6B-CB28-CC2F-A3E0-E5CCCF1AC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181099"/>
            <a:ext cx="3965840" cy="145591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>
                <a:ea typeface="+mj-lt"/>
                <a:cs typeface="+mj-lt"/>
              </a:rPr>
              <a:t>UC-003: Secure Password Reset (Security Use Case)</a:t>
            </a:r>
            <a:endParaRPr lang="en-US" sz="2500"/>
          </a:p>
        </p:txBody>
      </p:sp>
      <p:pic>
        <p:nvPicPr>
          <p:cNvPr id="4" name="Content Placeholder 3" descr="A diagram of a person&amp;#39;s password&#10;&#10;AI-generated content may be incorrect.">
            <a:extLst>
              <a:ext uri="{FF2B5EF4-FFF2-40B4-BE49-F238E27FC236}">
                <a16:creationId xmlns:a16="http://schemas.microsoft.com/office/drawing/2014/main" id="{D6367425-2C49-383C-EEFA-68A9CB3EB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934" y="1717396"/>
            <a:ext cx="3884659" cy="249764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9ECD33-E786-CB1F-4A91-26C420F11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407" y="1885950"/>
            <a:ext cx="7661393" cy="4559299"/>
          </a:xfrm>
        </p:spPr>
        <p:txBody>
          <a:bodyPr anchor="b">
            <a:normAutofit fontScale="47500" lnSpcReduction="20000"/>
          </a:bodyPr>
          <a:lstStyle/>
          <a:p>
            <a:endParaRPr lang="en-US" sz="1000" b="1">
              <a:solidFill>
                <a:srgbClr val="F3F3F3"/>
              </a:solidFill>
              <a:ea typeface="+mn-lt"/>
              <a:cs typeface="+mn-lt"/>
            </a:endParaRPr>
          </a:p>
          <a:p>
            <a:endParaRPr lang="en-US" sz="1000" b="1">
              <a:solidFill>
                <a:srgbClr val="F3F3F3"/>
              </a:solidFill>
              <a:ea typeface="+mn-lt"/>
              <a:cs typeface="+mn-lt"/>
            </a:endParaRPr>
          </a:p>
          <a:p>
            <a:r>
              <a:rPr lang="en-US" sz="1900" b="1">
                <a:solidFill>
                  <a:srgbClr val="F3F3F3"/>
                </a:solidFill>
                <a:ea typeface="+mn-lt"/>
                <a:cs typeface="+mn-lt"/>
              </a:rPr>
              <a:t>Use Case Description</a:t>
            </a:r>
            <a:r>
              <a:rPr lang="en-US" sz="1900">
                <a:solidFill>
                  <a:srgbClr val="F3F3F3"/>
                </a:solidFill>
                <a:ea typeface="+mn-lt"/>
                <a:cs typeface="+mn-lt"/>
              </a:rPr>
              <a:t>:</a:t>
            </a:r>
            <a:endParaRPr lang="en-US" sz="1900"/>
          </a:p>
          <a:p>
            <a:r>
              <a:rPr lang="en-US" sz="1900">
                <a:solidFill>
                  <a:srgbClr val="F3F3F3"/>
                </a:solidFill>
                <a:ea typeface="+mn-lt"/>
                <a:cs typeface="+mn-lt"/>
              </a:rPr>
              <a:t>"Provides secure password reset functionality with fraud prevention and abuse protection"</a:t>
            </a:r>
            <a:endParaRPr lang="en-US" sz="1900"/>
          </a:p>
          <a:p>
            <a:r>
              <a:rPr lang="en-US" sz="1900" b="1">
                <a:solidFill>
                  <a:srgbClr val="F3F3F3"/>
                </a:solidFill>
                <a:ea typeface="+mn-lt"/>
                <a:cs typeface="+mn-lt"/>
              </a:rPr>
              <a:t>Actors</a:t>
            </a:r>
            <a:r>
              <a:rPr lang="en-US" sz="1900">
                <a:solidFill>
                  <a:srgbClr val="F3F3F3"/>
                </a:solidFill>
                <a:ea typeface="+mn-lt"/>
                <a:cs typeface="+mn-lt"/>
              </a:rPr>
              <a:t>:</a:t>
            </a:r>
            <a:endParaRPr lang="en-US" sz="1900"/>
          </a:p>
          <a:p>
            <a:r>
              <a:rPr lang="en-US" sz="1900">
                <a:solidFill>
                  <a:srgbClr val="F3F3F3"/>
                </a:solidFill>
                <a:ea typeface="+mn-lt"/>
                <a:cs typeface="+mn-lt"/>
              </a:rPr>
              <a:t>User (Primary Actor)</a:t>
            </a:r>
            <a:endParaRPr lang="en-US" sz="1900"/>
          </a:p>
          <a:p>
            <a:r>
              <a:rPr lang="en-US" sz="1900" err="1">
                <a:solidFill>
                  <a:srgbClr val="F3F3F3"/>
                </a:solidFill>
                <a:ea typeface="+mn-lt"/>
                <a:cs typeface="+mn-lt"/>
              </a:rPr>
              <a:t>MenuMap</a:t>
            </a:r>
            <a:r>
              <a:rPr lang="en-US" sz="1900">
                <a:solidFill>
                  <a:srgbClr val="F3F3F3"/>
                </a:solidFill>
                <a:ea typeface="+mn-lt"/>
                <a:cs typeface="+mn-lt"/>
              </a:rPr>
              <a:t> System (System Actor)</a:t>
            </a:r>
            <a:endParaRPr lang="en-US" sz="1900"/>
          </a:p>
          <a:p>
            <a:r>
              <a:rPr lang="en-US" sz="1900">
                <a:solidFill>
                  <a:srgbClr val="F3F3F3"/>
                </a:solidFill>
                <a:ea typeface="+mn-lt"/>
                <a:cs typeface="+mn-lt"/>
              </a:rPr>
              <a:t>Email Service (External Actor)</a:t>
            </a:r>
            <a:endParaRPr lang="en-US" sz="1900"/>
          </a:p>
          <a:p>
            <a:r>
              <a:rPr lang="en-US" sz="1900" b="1">
                <a:solidFill>
                  <a:srgbClr val="F3F3F3"/>
                </a:solidFill>
                <a:ea typeface="+mn-lt"/>
                <a:cs typeface="+mn-lt"/>
              </a:rPr>
              <a:t>Security Features</a:t>
            </a:r>
            <a:r>
              <a:rPr lang="en-US" sz="1900">
                <a:solidFill>
                  <a:srgbClr val="F3F3F3"/>
                </a:solidFill>
                <a:ea typeface="+mn-lt"/>
                <a:cs typeface="+mn-lt"/>
              </a:rPr>
              <a:t>:</a:t>
            </a:r>
            <a:endParaRPr lang="en-US" sz="1900"/>
          </a:p>
          <a:p>
            <a:r>
              <a:rPr lang="en-US" sz="1900">
                <a:solidFill>
                  <a:srgbClr val="F3F3F3"/>
                </a:solidFill>
                <a:ea typeface="+mn-lt"/>
                <a:cs typeface="+mn-lt"/>
              </a:rPr>
              <a:t>"Token-based security (24-hour expiration)"</a:t>
            </a:r>
            <a:endParaRPr lang="en-US" sz="1900"/>
          </a:p>
          <a:p>
            <a:r>
              <a:rPr lang="en-US" sz="1900">
                <a:solidFill>
                  <a:srgbClr val="F3F3F3"/>
                </a:solidFill>
                <a:ea typeface="+mn-lt"/>
                <a:cs typeface="+mn-lt"/>
              </a:rPr>
              <a:t>"Rate limiting to prevent abuse"</a:t>
            </a:r>
            <a:endParaRPr lang="en-US" sz="1900"/>
          </a:p>
          <a:p>
            <a:r>
              <a:rPr lang="en-US" sz="1900">
                <a:solidFill>
                  <a:srgbClr val="F3F3F3"/>
                </a:solidFill>
                <a:ea typeface="+mn-lt"/>
                <a:cs typeface="+mn-lt"/>
              </a:rPr>
              <a:t>"Audit logging for security monitoring"</a:t>
            </a:r>
            <a:endParaRPr lang="en-US" sz="1900"/>
          </a:p>
          <a:p>
            <a:r>
              <a:rPr lang="en-US" sz="1900">
                <a:solidFill>
                  <a:srgbClr val="F3F3F3"/>
                </a:solidFill>
                <a:ea typeface="+mn-lt"/>
                <a:cs typeface="+mn-lt"/>
              </a:rPr>
              <a:t>"Fraud prevention (no email enumeration)"</a:t>
            </a:r>
            <a:endParaRPr lang="en-US" sz="1900"/>
          </a:p>
          <a:p>
            <a:r>
              <a:rPr lang="en-US" sz="1900" b="1">
                <a:solidFill>
                  <a:srgbClr val="F3F3F3"/>
                </a:solidFill>
                <a:ea typeface="+mn-lt"/>
                <a:cs typeface="+mn-lt"/>
              </a:rPr>
              <a:t>Key Scenarios</a:t>
            </a:r>
            <a:r>
              <a:rPr lang="en-US" sz="1900">
                <a:solidFill>
                  <a:srgbClr val="F3F3F3"/>
                </a:solidFill>
                <a:ea typeface="+mn-lt"/>
                <a:cs typeface="+mn-lt"/>
              </a:rPr>
              <a:t> (from your scenarios document):</a:t>
            </a:r>
            <a:endParaRPr lang="en-US" sz="1900"/>
          </a:p>
          <a:p>
            <a:r>
              <a:rPr lang="en-US" sz="1900">
                <a:solidFill>
                  <a:srgbClr val="F3F3F3"/>
                </a:solidFill>
                <a:ea typeface="+mn-lt"/>
                <a:cs typeface="+mn-lt"/>
              </a:rPr>
              <a:t>"Jennifer successfully resets password"</a:t>
            </a:r>
            <a:endParaRPr lang="en-US" sz="1900"/>
          </a:p>
          <a:p>
            <a:r>
              <a:rPr lang="en-US" sz="1900">
                <a:solidFill>
                  <a:srgbClr val="F3F3F3"/>
                </a:solidFill>
                <a:ea typeface="+mn-lt"/>
                <a:cs typeface="+mn-lt"/>
              </a:rPr>
              <a:t>"Tom attempts reset with invalid email (security protection)"</a:t>
            </a:r>
            <a:endParaRPr lang="en-US" sz="1900"/>
          </a:p>
          <a:p>
            <a:r>
              <a:rPr lang="en-US" sz="1900">
                <a:solidFill>
                  <a:srgbClr val="F3F3F3"/>
                </a:solidFill>
                <a:ea typeface="+mn-lt"/>
                <a:cs typeface="+mn-lt"/>
              </a:rPr>
              <a:t>"Robert clicks expired reset link (time limit enforcement)"</a:t>
            </a:r>
            <a:endParaRPr lang="en-US" sz="1900"/>
          </a:p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997AC9-EE0E-4715-BB2E-3B72C08A9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879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4E42130E-4A13-4078-B6E2-08D3C3BD6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885325" cy="6858000"/>
          </a:xfrm>
          <a:custGeom>
            <a:avLst/>
            <a:gdLst>
              <a:gd name="connsiteX0" fmla="*/ 0 w 6885325"/>
              <a:gd name="connsiteY0" fmla="*/ 0 h 6858000"/>
              <a:gd name="connsiteX1" fmla="*/ 6885325 w 6885325"/>
              <a:gd name="connsiteY1" fmla="*/ 0 h 6858000"/>
              <a:gd name="connsiteX2" fmla="*/ 6885323 w 6885325"/>
              <a:gd name="connsiteY2" fmla="*/ 2 h 6858000"/>
              <a:gd name="connsiteX3" fmla="*/ 6885322 w 6885325"/>
              <a:gd name="connsiteY3" fmla="*/ 4 h 6858000"/>
              <a:gd name="connsiteX4" fmla="*/ 874733 w 6885325"/>
              <a:gd name="connsiteY4" fmla="*/ 6858000 h 6858000"/>
              <a:gd name="connsiteX5" fmla="*/ 0 w 688532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85325" h="6858000">
                <a:moveTo>
                  <a:pt x="0" y="0"/>
                </a:moveTo>
                <a:lnTo>
                  <a:pt x="6885325" y="0"/>
                </a:lnTo>
                <a:lnTo>
                  <a:pt x="6885323" y="2"/>
                </a:lnTo>
                <a:cubicBezTo>
                  <a:pt x="6885323" y="3"/>
                  <a:pt x="6885322" y="3"/>
                  <a:pt x="6885322" y="4"/>
                </a:cubicBezTo>
                <a:lnTo>
                  <a:pt x="8747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844C3-6416-B972-6F3A-B47C228AF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181099"/>
            <a:ext cx="3965840" cy="145591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>
                <a:ea typeface="+mj-lt"/>
                <a:cs typeface="+mj-lt"/>
              </a:rPr>
              <a:t>UML Diagrams Overview</a:t>
            </a:r>
            <a:endParaRPr lang="en-US" sz="3400"/>
          </a:p>
        </p:txBody>
      </p:sp>
      <p:pic>
        <p:nvPicPr>
          <p:cNvPr id="7" name="Content Placeholder 6" descr="A diagram of a diagram&#10;&#10;AI-generated content may be incorrect.">
            <a:extLst>
              <a:ext uri="{FF2B5EF4-FFF2-40B4-BE49-F238E27FC236}">
                <a16:creationId xmlns:a16="http://schemas.microsoft.com/office/drawing/2014/main" id="{A34B070B-031A-91EA-CB7E-551DF2871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15" y="3695559"/>
            <a:ext cx="3456467" cy="1412797"/>
          </a:xfrm>
          <a:prstGeom prst="rect">
            <a:avLst/>
          </a:prstGeom>
        </p:spPr>
      </p:pic>
      <p:pic>
        <p:nvPicPr>
          <p:cNvPr id="5" name="Content Placeholder 4" descr="A diagram of a project&#10;&#10;AI-generated content may be incorrect.">
            <a:extLst>
              <a:ext uri="{FF2B5EF4-FFF2-40B4-BE49-F238E27FC236}">
                <a16:creationId xmlns:a16="http://schemas.microsoft.com/office/drawing/2014/main" id="{C5983188-189B-9A85-5416-0E42565C2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713" y="2318871"/>
            <a:ext cx="3616198" cy="4273522"/>
          </a:xfrm>
          <a:prstGeom prst="rect">
            <a:avLst/>
          </a:prstGeom>
        </p:spPr>
      </p:pic>
      <p:pic>
        <p:nvPicPr>
          <p:cNvPr id="6" name="Content Placeholder 5" descr="A diagram of a person&amp;#39;s password&#10;&#10;AI-generated content may be incorrect.">
            <a:extLst>
              <a:ext uri="{FF2B5EF4-FFF2-40B4-BE49-F238E27FC236}">
                <a16:creationId xmlns:a16="http://schemas.microsoft.com/office/drawing/2014/main" id="{03B14BF7-71DE-CA91-7A58-173E2C712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80" y="2323590"/>
            <a:ext cx="3456466" cy="1263065"/>
          </a:xfrm>
          <a:prstGeom prst="rect">
            <a:avLst/>
          </a:prstGeom>
        </p:spPr>
      </p:pic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31E844B-D45E-1C00-4BCE-FF66902060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7122" y="4225863"/>
            <a:ext cx="3902664" cy="2470341"/>
          </a:xfrm>
          <a:prstGeom prst="rect">
            <a:avLst/>
          </a:prstGeom>
        </p:spPr>
      </p:pic>
      <p:pic>
        <p:nvPicPr>
          <p:cNvPr id="9" name="Content Placeholder 8" descr="A diagram of a restaurant menu&#10;&#10;AI-generated content may be incorrect.">
            <a:extLst>
              <a:ext uri="{FF2B5EF4-FFF2-40B4-BE49-F238E27FC236}">
                <a16:creationId xmlns:a16="http://schemas.microsoft.com/office/drawing/2014/main" id="{A91199D3-5EED-2A11-5A4F-E072D1D00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548530" y="5211654"/>
            <a:ext cx="3450445" cy="13753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D37C60-335F-4E6A-A3CE-D5AA38C3A389}"/>
              </a:ext>
            </a:extLst>
          </p:cNvPr>
          <p:cNvSpPr txBox="1"/>
          <p:nvPr/>
        </p:nvSpPr>
        <p:spPr>
          <a:xfrm>
            <a:off x="7855185" y="2314222"/>
            <a:ext cx="3904073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rgbClr val="F3F3F3"/>
                </a:solidFill>
                <a:ea typeface="+mn-lt"/>
                <a:cs typeface="+mn-lt"/>
              </a:rPr>
              <a:t>Content</a:t>
            </a:r>
            <a:r>
              <a:rPr lang="en-US" sz="1400">
                <a:solidFill>
                  <a:srgbClr val="F3F3F3"/>
                </a:solidFill>
                <a:ea typeface="+mn-lt"/>
                <a:cs typeface="+mn-lt"/>
              </a:rPr>
              <a:t>: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F3F3F3"/>
                </a:solidFill>
                <a:ea typeface="+mn-lt"/>
                <a:cs typeface="+mn-lt"/>
              </a:rPr>
              <a:t>"Individual Use Case Diagrams for each use case"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F3F3F3"/>
                </a:solidFill>
                <a:ea typeface="+mn-lt"/>
                <a:cs typeface="+mn-lt"/>
              </a:rPr>
              <a:t>"Class Diagram showing system structure"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F3F3F3"/>
                </a:solidFill>
                <a:ea typeface="+mn-lt"/>
                <a:cs typeface="+mn-lt"/>
              </a:rPr>
              <a:t>"Sequence Diagram for user login process</a:t>
            </a:r>
            <a:endParaRPr lang="en-US" sz="1400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85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1BD2D-BB71-4C16-D771-6177D2E8E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769613"/>
            <a:ext cx="9905999" cy="1360898"/>
          </a:xfrm>
        </p:spPr>
        <p:txBody>
          <a:bodyPr/>
          <a:lstStyle/>
          <a:p>
            <a:r>
              <a:rPr lang="en-US"/>
              <a:t>[Security]</a:t>
            </a:r>
            <a:br>
              <a:rPr lang="en-US"/>
            </a:br>
            <a:r>
              <a:rPr lang="en-US"/>
              <a:t>TM905- Recovery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F886B-E7A6-902E-3143-5BA006CC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/>
              <a:t>Use Case Description: Provides </a:t>
            </a:r>
            <a:r>
              <a:rPr lang="en-US" err="1"/>
              <a:t>MenuMap</a:t>
            </a:r>
            <a:r>
              <a:rPr lang="en-US"/>
              <a:t> users with an account recovery method when they are unable to log in.</a:t>
            </a:r>
          </a:p>
          <a:p>
            <a:pPr marL="0" indent="0">
              <a:buNone/>
            </a:pPr>
            <a:r>
              <a:rPr lang="en-US"/>
              <a:t>Actors: MM User, User's Email Service</a:t>
            </a:r>
          </a:p>
          <a:p>
            <a:pPr marL="0" indent="0">
              <a:buNone/>
            </a:pPr>
            <a:r>
              <a:rPr lang="en-US"/>
              <a:t>Security Features:</a:t>
            </a:r>
          </a:p>
          <a:p>
            <a:r>
              <a:rPr lang="en-US"/>
              <a:t>Email access requirement.</a:t>
            </a:r>
          </a:p>
          <a:p>
            <a:r>
              <a:rPr lang="en-US"/>
              <a:t>One-time use recovery information.</a:t>
            </a:r>
          </a:p>
          <a:p>
            <a:r>
              <a:rPr lang="en-US"/>
              <a:t>Updated password must be different to previous password.</a:t>
            </a:r>
          </a:p>
          <a:p>
            <a:pPr marL="0" indent="0">
              <a:buNone/>
            </a:pPr>
            <a:r>
              <a:rPr lang="en-US"/>
              <a:t>Key Scenarios:</a:t>
            </a:r>
          </a:p>
          <a:p>
            <a:pPr marL="0" indent="0">
              <a:buNone/>
            </a:pPr>
            <a:r>
              <a:rPr lang="en-US"/>
              <a:t>"Roger forgot his password, so he selected 'Need help logging in?'"</a:t>
            </a:r>
          </a:p>
          <a:p>
            <a:pPr marL="0" indent="0">
              <a:buNone/>
            </a:pPr>
            <a:r>
              <a:rPr lang="en-US"/>
              <a:t>"Emma updated her password for </a:t>
            </a:r>
            <a:r>
              <a:rPr lang="en-US" err="1"/>
              <a:t>MenuMap</a:t>
            </a:r>
            <a:r>
              <a:rPr lang="en-US"/>
              <a:t> after providing recovery information."</a:t>
            </a:r>
          </a:p>
          <a:p>
            <a:pPr marL="0" indent="0">
              <a:buNone/>
            </a:pPr>
            <a:r>
              <a:rPr lang="en-US"/>
              <a:t>"George received an email containing his account information after recovering his account."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black and white oval with a blue circle and a black text&#10;&#10;AI-generated content may be incorrect.">
            <a:extLst>
              <a:ext uri="{FF2B5EF4-FFF2-40B4-BE49-F238E27FC236}">
                <a16:creationId xmlns:a16="http://schemas.microsoft.com/office/drawing/2014/main" id="{3628818E-01DC-2F5E-3883-F326FA892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275" y="876704"/>
            <a:ext cx="399097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794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3A9C6-4CD9-00E2-D4E2-B08E15762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3FF3-56A3-7859-554C-A810F1C4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TM907- Export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5DC52-E358-AF3A-7D94-0AEA85130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Use Case Description: Allows </a:t>
            </a:r>
            <a:r>
              <a:rPr lang="en-US" err="1"/>
              <a:t>MenuMap</a:t>
            </a:r>
            <a:r>
              <a:rPr lang="en-US"/>
              <a:t> users to export data associated with their individual account.</a:t>
            </a:r>
          </a:p>
          <a:p>
            <a:pPr marL="0" indent="0">
              <a:buNone/>
            </a:pPr>
            <a:r>
              <a:rPr lang="en-US"/>
              <a:t>Actors: MM User, User's System.</a:t>
            </a:r>
          </a:p>
          <a:p>
            <a:pPr marL="0" indent="0">
              <a:buNone/>
            </a:pPr>
            <a:r>
              <a:rPr lang="en-US"/>
              <a:t>Key Scenarios:</a:t>
            </a:r>
          </a:p>
          <a:p>
            <a:pPr marL="0" indent="0">
              <a:buNone/>
            </a:pPr>
            <a:r>
              <a:rPr lang="en-US"/>
              <a:t>"Grace wants to save her meal data to her device, so she exports her MM data."</a:t>
            </a:r>
          </a:p>
          <a:p>
            <a:pPr marL="0" indent="0">
              <a:buNone/>
            </a:pPr>
            <a:r>
              <a:rPr lang="en-US"/>
              <a:t>"Lionel only wants to save his nutrition data for future reference, so he selects this preference and exports his data."</a:t>
            </a:r>
          </a:p>
          <a:p>
            <a:pPr marL="0" indent="0">
              <a:buNone/>
            </a:pPr>
            <a:r>
              <a:rPr lang="en-US"/>
              <a:t>"Paige exports her data to her device every week to keep track of her nutrition and how it changes."</a:t>
            </a:r>
          </a:p>
        </p:txBody>
      </p:sp>
      <p:pic>
        <p:nvPicPr>
          <p:cNvPr id="4" name="Picture 3" descr="A diagram of export data&#10;&#10;AI-generated content may be incorrect.">
            <a:extLst>
              <a:ext uri="{FF2B5EF4-FFF2-40B4-BE49-F238E27FC236}">
                <a16:creationId xmlns:a16="http://schemas.microsoft.com/office/drawing/2014/main" id="{8204B2EF-4480-8B1C-19E3-EB0AB1830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808" y="587724"/>
            <a:ext cx="43338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316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BC71D-CF3D-F244-5141-373B9E47B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E5A51-0956-D103-D6D9-E1EC9210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TM908- Search Menu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CF42C-C53E-CCDA-1126-BCEDDBA08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Use Case Description: Allows users to find meals based on their nutrition goals.</a:t>
            </a:r>
          </a:p>
          <a:p>
            <a:pPr marL="0" indent="0">
              <a:buNone/>
            </a:pPr>
            <a:r>
              <a:rPr lang="en-US"/>
              <a:t>Actors: MM Individual User, Restaurant.</a:t>
            </a:r>
          </a:p>
          <a:p>
            <a:pPr marL="0" indent="0">
              <a:buNone/>
            </a:pPr>
            <a:r>
              <a:rPr lang="en-US"/>
              <a:t>Key Scenarios:</a:t>
            </a:r>
          </a:p>
          <a:p>
            <a:pPr marL="0" indent="0">
              <a:buNone/>
            </a:pPr>
            <a:r>
              <a:rPr lang="en-US"/>
              <a:t>"Stacy wants to keep a gluten-free diet, so she searches for menu items that fall under this category."</a:t>
            </a:r>
          </a:p>
          <a:p>
            <a:pPr marL="0" indent="0">
              <a:buNone/>
            </a:pPr>
            <a:r>
              <a:rPr lang="en-US"/>
              <a:t>"Bob is looking to consume a high-protein and low sugar diet, so he searches for menu items that conform to both his selected options."</a:t>
            </a:r>
          </a:p>
          <a:p>
            <a:pPr marL="0" indent="0">
              <a:buNone/>
            </a:pPr>
            <a:r>
              <a:rPr lang="en-US"/>
              <a:t>"Because Regina is diabetic, she wants to make sure her diet is diabetic-friendly, so she makes that her only preference in the </a:t>
            </a:r>
            <a:r>
              <a:rPr lang="en-US" err="1"/>
              <a:t>MenuMap</a:t>
            </a:r>
            <a:r>
              <a:rPr lang="en-US"/>
              <a:t> app."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search menu items with a blue oval&#10;&#10;AI-generated content may be incorrect.">
            <a:extLst>
              <a:ext uri="{FF2B5EF4-FFF2-40B4-BE49-F238E27FC236}">
                <a16:creationId xmlns:a16="http://schemas.microsoft.com/office/drawing/2014/main" id="{B4399FF3-299A-05DE-C29B-439CF5A75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624" y="652301"/>
            <a:ext cx="44196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02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609C-CB15-A33C-F148-B897F1A57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TM911: User Review &amp; Rating System – 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334B7-888D-2366-1B73-89BEBBEE6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“Allows registered users to write a text review and give a 1–5-star rating for a restaurant; the system validates and stores the review, updates the restaurant’s average rating, and displays reviews to all users.”</a:t>
            </a:r>
          </a:p>
          <a:p>
            <a:r>
              <a:rPr lang="en-US" b="1"/>
              <a:t>Actors:</a:t>
            </a:r>
            <a:endParaRPr lang="en-US"/>
          </a:p>
          <a:p>
            <a:r>
              <a:rPr lang="en-US" b="1"/>
              <a:t>Registered User</a:t>
            </a:r>
            <a:r>
              <a:rPr lang="en-US"/>
              <a:t> (Primary Actor)</a:t>
            </a:r>
          </a:p>
          <a:p>
            <a:r>
              <a:rPr lang="en-US" b="1"/>
              <a:t>Restaurant Owner</a:t>
            </a:r>
            <a:r>
              <a:rPr lang="en-US"/>
              <a:t> (Secondary Actor – read-only access to reviews)</a:t>
            </a:r>
          </a:p>
          <a:p>
            <a:r>
              <a:rPr lang="en-US" b="1" err="1"/>
              <a:t>MenuMap</a:t>
            </a:r>
            <a:r>
              <a:rPr lang="en-US" b="1"/>
              <a:t> System</a:t>
            </a:r>
            <a:r>
              <a:rPr lang="en-US"/>
              <a:t> (System Actor)</a:t>
            </a:r>
          </a:p>
          <a:p>
            <a:r>
              <a:rPr lang="en-US" b="1"/>
              <a:t>Key Scenarios (from your scenarios document):</a:t>
            </a:r>
            <a:endParaRPr lang="en-US"/>
          </a:p>
          <a:p>
            <a:r>
              <a:rPr lang="en-US"/>
              <a:t>“Eve writes a 4-star review for </a:t>
            </a:r>
            <a:r>
              <a:rPr lang="en-US" i="1"/>
              <a:t>Green Fork</a:t>
            </a:r>
            <a:r>
              <a:rPr lang="en-US"/>
              <a:t> and adds a short comment about service speed.”</a:t>
            </a:r>
          </a:p>
          <a:p>
            <a:r>
              <a:rPr lang="en-US"/>
              <a:t>“Andre edits his previous review to correct a typo; rating remains 5 stars.”</a:t>
            </a:r>
          </a:p>
          <a:p>
            <a:r>
              <a:rPr lang="en-US"/>
              <a:t>“Alfonso flags an offensive review; the system hides it pending moderator action.”</a:t>
            </a:r>
          </a:p>
          <a:p>
            <a:r>
              <a:rPr lang="en-US"/>
              <a:t>“Kamal opens </a:t>
            </a:r>
            <a:r>
              <a:rPr lang="en-US" i="1"/>
              <a:t>Taco Loco</a:t>
            </a:r>
            <a:r>
              <a:rPr lang="en-US"/>
              <a:t> and sees the average rating update after new reviews.”  </a:t>
            </a:r>
          </a:p>
          <a:p>
            <a:endParaRPr lang="en-US"/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84A92C9D-69BC-79CF-A6DF-666CDF709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27" y="2988526"/>
            <a:ext cx="4026521" cy="258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469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4F20867-41B0-484D-9DA7-0FC742D31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712B839-088B-4F97-96A4-6FAA8E3D1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3870" y="-2"/>
            <a:ext cx="8239927" cy="6858000"/>
          </a:xfrm>
          <a:custGeom>
            <a:avLst/>
            <a:gdLst>
              <a:gd name="connsiteX0" fmla="*/ 6010593 w 8239927"/>
              <a:gd name="connsiteY0" fmla="*/ 0 h 6858000"/>
              <a:gd name="connsiteX1" fmla="*/ 8239927 w 8239927"/>
              <a:gd name="connsiteY1" fmla="*/ 0 h 6858000"/>
              <a:gd name="connsiteX2" fmla="*/ 2229335 w 8239927"/>
              <a:gd name="connsiteY2" fmla="*/ 6858000 h 6858000"/>
              <a:gd name="connsiteX3" fmla="*/ 0 w 82399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9927" h="6858000">
                <a:moveTo>
                  <a:pt x="6010593" y="0"/>
                </a:moveTo>
                <a:lnTo>
                  <a:pt x="8239927" y="0"/>
                </a:lnTo>
                <a:lnTo>
                  <a:pt x="22293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89BAF08-0AD0-4642-9767-4D53853C5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9527" y="0"/>
            <a:ext cx="6899617" cy="6858000"/>
          </a:xfrm>
          <a:custGeom>
            <a:avLst/>
            <a:gdLst>
              <a:gd name="connsiteX0" fmla="*/ 6010592 w 6899617"/>
              <a:gd name="connsiteY0" fmla="*/ 0 h 6858000"/>
              <a:gd name="connsiteX1" fmla="*/ 6036517 w 6899617"/>
              <a:gd name="connsiteY1" fmla="*/ 0 h 6858000"/>
              <a:gd name="connsiteX2" fmla="*/ 6899617 w 6899617"/>
              <a:gd name="connsiteY2" fmla="*/ 0 h 6858000"/>
              <a:gd name="connsiteX3" fmla="*/ 6899617 w 6899617"/>
              <a:gd name="connsiteY3" fmla="*/ 1529274 h 6858000"/>
              <a:gd name="connsiteX4" fmla="*/ 6899617 w 6899617"/>
              <a:gd name="connsiteY4" fmla="*/ 6858000 h 6858000"/>
              <a:gd name="connsiteX5" fmla="*/ 2229334 w 6899617"/>
              <a:gd name="connsiteY5" fmla="*/ 6858000 h 6858000"/>
              <a:gd name="connsiteX6" fmla="*/ 25925 w 6899617"/>
              <a:gd name="connsiteY6" fmla="*/ 6858000 h 6858000"/>
              <a:gd name="connsiteX7" fmla="*/ 0 w 689961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99617" h="6858000">
                <a:moveTo>
                  <a:pt x="6010592" y="0"/>
                </a:moveTo>
                <a:lnTo>
                  <a:pt x="6036517" y="0"/>
                </a:lnTo>
                <a:lnTo>
                  <a:pt x="6899617" y="0"/>
                </a:lnTo>
                <a:lnTo>
                  <a:pt x="6899617" y="1529274"/>
                </a:lnTo>
                <a:lnTo>
                  <a:pt x="6899617" y="6858000"/>
                </a:lnTo>
                <a:lnTo>
                  <a:pt x="2229334" y="6858000"/>
                </a:lnTo>
                <a:lnTo>
                  <a:pt x="2592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EAB1C3-BF6F-CB41-29ED-DC13F1F6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872937"/>
            <a:ext cx="5946290" cy="1360898"/>
          </a:xfrm>
        </p:spPr>
        <p:txBody>
          <a:bodyPr>
            <a:normAutofit/>
          </a:bodyPr>
          <a:lstStyle/>
          <a:p>
            <a:r>
              <a:rPr lang="en-US"/>
              <a:t>TM912: Personalized Recommendation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6D36D-3D7F-9849-F07C-5FD0FA515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" y="2139950"/>
            <a:ext cx="5550628" cy="478155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800" b="1"/>
              <a:t>Use Case Description:</a:t>
            </a:r>
            <a:br>
              <a:rPr lang="en-US" sz="800"/>
            </a:br>
            <a:r>
              <a:rPr lang="en-US" sz="800"/>
              <a:t>“Generates personalized restaurant recommendations for a user based on favorites, past searches, dietary preferences, and location; the user can refine results with filters (price, distance, cuisine/dietary) and open a suggested restaurant.”</a:t>
            </a:r>
          </a:p>
          <a:p>
            <a:pPr>
              <a:lnSpc>
                <a:spcPct val="110000"/>
              </a:lnSpc>
            </a:pPr>
            <a:r>
              <a:rPr lang="en-US" sz="800" b="1"/>
              <a:t>Actors:</a:t>
            </a:r>
            <a:endParaRPr lang="en-US" sz="800"/>
          </a:p>
          <a:p>
            <a:pPr>
              <a:lnSpc>
                <a:spcPct val="110000"/>
              </a:lnSpc>
            </a:pPr>
            <a:r>
              <a:rPr lang="en-US" sz="800" b="1"/>
              <a:t>User</a:t>
            </a:r>
            <a:r>
              <a:rPr lang="en-US" sz="800"/>
              <a:t> (Primary Actor)</a:t>
            </a:r>
          </a:p>
          <a:p>
            <a:pPr>
              <a:lnSpc>
                <a:spcPct val="110000"/>
              </a:lnSpc>
            </a:pPr>
            <a:r>
              <a:rPr lang="en-US" sz="800" b="1" err="1"/>
              <a:t>MenuMap</a:t>
            </a:r>
            <a:r>
              <a:rPr lang="en-US" sz="800" b="1"/>
              <a:t> System (Recommendation Engine)</a:t>
            </a:r>
            <a:r>
              <a:rPr lang="en-US" sz="800"/>
              <a:t> (System Actor)</a:t>
            </a:r>
          </a:p>
          <a:p>
            <a:pPr>
              <a:lnSpc>
                <a:spcPct val="110000"/>
              </a:lnSpc>
            </a:pPr>
            <a:r>
              <a:rPr lang="en-US" sz="800" b="1"/>
              <a:t>Key Scenarios (from your scenarios document):</a:t>
            </a:r>
            <a:endParaRPr lang="en-US" sz="800"/>
          </a:p>
          <a:p>
            <a:pPr>
              <a:lnSpc>
                <a:spcPct val="110000"/>
              </a:lnSpc>
            </a:pPr>
            <a:r>
              <a:rPr lang="en-US" sz="800"/>
              <a:t>“Eve opens </a:t>
            </a:r>
            <a:r>
              <a:rPr lang="en-US" sz="800" b="1"/>
              <a:t>Recommended for You</a:t>
            </a:r>
            <a:r>
              <a:rPr lang="en-US" sz="800"/>
              <a:t>; sees vegan-friendly lunch spots within 5 miles based on her favorites.”</a:t>
            </a:r>
          </a:p>
          <a:p>
            <a:pPr>
              <a:lnSpc>
                <a:spcPct val="110000"/>
              </a:lnSpc>
            </a:pPr>
            <a:r>
              <a:rPr lang="en-US" sz="800"/>
              <a:t>“Andre applies filters (</a:t>
            </a:r>
            <a:r>
              <a:rPr lang="en-US" sz="800" b="1"/>
              <a:t>$$</a:t>
            </a:r>
            <a:r>
              <a:rPr lang="en-US" sz="800"/>
              <a:t>, ≤2 miles, </a:t>
            </a:r>
            <a:r>
              <a:rPr lang="en-US" sz="800" b="1"/>
              <a:t>Mexican</a:t>
            </a:r>
            <a:r>
              <a:rPr lang="en-US" sz="800"/>
              <a:t>) and the recommendations refresh instantly.”</a:t>
            </a:r>
          </a:p>
          <a:p>
            <a:pPr>
              <a:lnSpc>
                <a:spcPct val="110000"/>
              </a:lnSpc>
            </a:pPr>
            <a:r>
              <a:rPr lang="en-US" sz="800"/>
              <a:t>“Kamal marks a suggestion as </a:t>
            </a:r>
            <a:r>
              <a:rPr lang="en-US" sz="800" b="1"/>
              <a:t>Not Interested</a:t>
            </a:r>
            <a:r>
              <a:rPr lang="en-US" sz="800"/>
              <a:t>; future recommendations adapt and hide similar places.”</a:t>
            </a:r>
          </a:p>
          <a:p>
            <a:pPr>
              <a:lnSpc>
                <a:spcPct val="110000"/>
              </a:lnSpc>
            </a:pPr>
            <a:r>
              <a:rPr lang="en-US" sz="800"/>
              <a:t>“Alfonso taps a recommended restaurant to view its menu and saves it to his </a:t>
            </a:r>
            <a:r>
              <a:rPr lang="en-US" sz="800" i="1"/>
              <a:t>Lunch Spots</a:t>
            </a:r>
            <a:r>
              <a:rPr lang="en-US" sz="800"/>
              <a:t> collection.” </a:t>
            </a:r>
          </a:p>
          <a:p>
            <a:pPr>
              <a:lnSpc>
                <a:spcPct val="110000"/>
              </a:lnSpc>
            </a:pPr>
            <a:endParaRPr lang="en-US" sz="800"/>
          </a:p>
        </p:txBody>
      </p:sp>
      <p:pic>
        <p:nvPicPr>
          <p:cNvPr id="5" name="Picture 4" descr="A diagram with text and a circle&#10;&#10;AI-generated content may be incorrect.">
            <a:extLst>
              <a:ext uri="{FF2B5EF4-FFF2-40B4-BE49-F238E27FC236}">
                <a16:creationId xmlns:a16="http://schemas.microsoft.com/office/drawing/2014/main" id="{EC1941A5-FB64-EB6B-D2B5-017C72E2E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878" y="3009900"/>
            <a:ext cx="6367648" cy="229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65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20E7A4-EC2C-47C8-BE55-65771E3F2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F23DDA-0D09-4FE5-AE88-EBBE5E024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885325" cy="6858000"/>
          </a:xfrm>
          <a:custGeom>
            <a:avLst/>
            <a:gdLst>
              <a:gd name="connsiteX0" fmla="*/ 4456883 w 6885325"/>
              <a:gd name="connsiteY0" fmla="*/ 6858000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4456884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5 w 6885325"/>
              <a:gd name="connsiteY6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5 w 6885325"/>
              <a:gd name="connsiteY5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5325" h="6858000">
                <a:moveTo>
                  <a:pt x="6885325" y="6857999"/>
                </a:moveTo>
                <a:lnTo>
                  <a:pt x="0" y="6858000"/>
                </a:lnTo>
                <a:lnTo>
                  <a:pt x="6010592" y="0"/>
                </a:lnTo>
                <a:lnTo>
                  <a:pt x="6885325" y="0"/>
                </a:lnTo>
                <a:lnTo>
                  <a:pt x="6885325" y="6857999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CDBC83-CD6F-6808-8F36-27E3D10C1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181100"/>
            <a:ext cx="3894412" cy="191677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TM913: Two-Factor Authentication (Security)</a:t>
            </a:r>
          </a:p>
        </p:txBody>
      </p:sp>
      <p:pic>
        <p:nvPicPr>
          <p:cNvPr id="5" name="Picture 4" descr="A diagram of a user&#10;&#10;AI-generated content may be incorrect.">
            <a:extLst>
              <a:ext uri="{FF2B5EF4-FFF2-40B4-BE49-F238E27FC236}">
                <a16:creationId xmlns:a16="http://schemas.microsoft.com/office/drawing/2014/main" id="{BA2871A9-B4D1-E3BB-8BED-96EE50943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964" y="68923"/>
            <a:ext cx="5840136" cy="30289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6C4F6-D7F2-53F1-0493-7AF9ED667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601" y="3251201"/>
            <a:ext cx="8871912" cy="3028949"/>
          </a:xfrm>
        </p:spPr>
        <p:txBody>
          <a:bodyPr anchor="b"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US" sz="1200" b="1"/>
              <a:t>Use Case Description:</a:t>
            </a:r>
            <a:br>
              <a:rPr lang="en-US" sz="1200"/>
            </a:br>
            <a:r>
              <a:rPr lang="en-US" sz="1200"/>
              <a:t>“Enables users to protect their accounts with </a:t>
            </a:r>
            <a:r>
              <a:rPr lang="en-US" sz="1200" b="1"/>
              <a:t>Two-Factor Authentication (2FA)</a:t>
            </a:r>
            <a:r>
              <a:rPr lang="en-US" sz="1200"/>
              <a:t>. The user turns on 2FA (via authenticator app or SMS/email OTP), verifies a one-time code, receives recovery codes, and thereafter must provide an OTP after password at login. System validates OTP, handles throttling/lockouts, and supports recovery-code login if the device is unavailable.”</a:t>
            </a:r>
          </a:p>
          <a:p>
            <a:pPr>
              <a:lnSpc>
                <a:spcPct val="110000"/>
              </a:lnSpc>
            </a:pPr>
            <a:r>
              <a:rPr lang="en-US" sz="1200" b="1"/>
              <a:t>Actors:</a:t>
            </a:r>
            <a:endParaRPr lang="en-US" sz="1200"/>
          </a:p>
          <a:p>
            <a:pPr>
              <a:lnSpc>
                <a:spcPct val="110000"/>
              </a:lnSpc>
            </a:pPr>
            <a:r>
              <a:rPr lang="en-US" sz="1200" b="1"/>
              <a:t>User</a:t>
            </a:r>
            <a:r>
              <a:rPr lang="en-US" sz="1200"/>
              <a:t> (Primary Actor)</a:t>
            </a:r>
          </a:p>
          <a:p>
            <a:pPr>
              <a:lnSpc>
                <a:spcPct val="110000"/>
              </a:lnSpc>
            </a:pPr>
            <a:r>
              <a:rPr lang="en-US" sz="1200" b="1"/>
              <a:t>Email/SMS/Authenticator Service</a:t>
            </a:r>
            <a:r>
              <a:rPr lang="en-US" sz="1200"/>
              <a:t> (External Actor – delivers/generates OTP)</a:t>
            </a:r>
          </a:p>
          <a:p>
            <a:pPr>
              <a:lnSpc>
                <a:spcPct val="110000"/>
              </a:lnSpc>
            </a:pPr>
            <a:r>
              <a:rPr lang="en-US" sz="1200" b="1" err="1"/>
              <a:t>MenuMap</a:t>
            </a:r>
            <a:r>
              <a:rPr lang="en-US" sz="1200" b="1"/>
              <a:t> System</a:t>
            </a:r>
            <a:r>
              <a:rPr lang="en-US" sz="1200"/>
              <a:t> (System Actor – stores 2FA state, verifies OTP, issues recovery codes)</a:t>
            </a:r>
          </a:p>
          <a:p>
            <a:pPr>
              <a:lnSpc>
                <a:spcPct val="110000"/>
              </a:lnSpc>
            </a:pPr>
            <a:r>
              <a:rPr lang="en-US" sz="1200" b="1"/>
              <a:t>Key Scenarios (from your scenarios document):</a:t>
            </a:r>
            <a:endParaRPr lang="en-US" sz="1200"/>
          </a:p>
          <a:p>
            <a:pPr>
              <a:lnSpc>
                <a:spcPct val="110000"/>
              </a:lnSpc>
            </a:pPr>
            <a:r>
              <a:rPr lang="en-US" sz="1200"/>
              <a:t>“Eve opens </a:t>
            </a:r>
            <a:r>
              <a:rPr lang="en-US" sz="1200" b="1"/>
              <a:t>Security Settings → Enable 2FA</a:t>
            </a:r>
            <a:r>
              <a:rPr lang="en-US" sz="1200"/>
              <a:t>, scans a QR in her authenticator app, enters the 6-digit code, and the system confirms </a:t>
            </a:r>
            <a:r>
              <a:rPr lang="en-US" sz="1200" b="1"/>
              <a:t>2FA enabled</a:t>
            </a:r>
            <a:r>
              <a:rPr lang="en-US" sz="1200"/>
              <a:t> with downloadable recovery codes.”</a:t>
            </a:r>
          </a:p>
          <a:p>
            <a:pPr>
              <a:lnSpc>
                <a:spcPct val="110000"/>
              </a:lnSpc>
            </a:pPr>
            <a:r>
              <a:rPr lang="en-US" sz="1200"/>
              <a:t>“Andre signs in from a new device: enters password, then the 6-digit OTP; the system validates with the authenticator service and grants access.”</a:t>
            </a:r>
          </a:p>
          <a:p>
            <a:pPr>
              <a:lnSpc>
                <a:spcPct val="110000"/>
              </a:lnSpc>
            </a:pPr>
            <a:r>
              <a:rPr lang="en-US" sz="1200"/>
              <a:t>“Kamal’s phone is unavailable; he selects </a:t>
            </a:r>
            <a:r>
              <a:rPr lang="en-US" sz="1200" b="1"/>
              <a:t>Use a recovery code</a:t>
            </a:r>
            <a:r>
              <a:rPr lang="en-US" sz="1200"/>
              <a:t>, enters one valid code, logs in, and the system rotates remaining recovery codes.”</a:t>
            </a:r>
          </a:p>
          <a:p>
            <a:pPr>
              <a:lnSpc>
                <a:spcPct val="110000"/>
              </a:lnSpc>
            </a:pPr>
            <a:r>
              <a:rPr lang="en-US" sz="1200"/>
              <a:t>“Alfonso mistypes OTP repeatedly; after 5 failed attempts the system enforces a short cooldown and sends a </a:t>
            </a:r>
            <a:r>
              <a:rPr lang="en-US" sz="1200" b="1"/>
              <a:t>security alert email</a:t>
            </a:r>
            <a:r>
              <a:rPr lang="en-US" sz="1200"/>
              <a:t>.”</a:t>
            </a:r>
          </a:p>
          <a:p>
            <a:pPr algn="r">
              <a:lnSpc>
                <a:spcPct val="110000"/>
              </a:lnSpc>
            </a:pPr>
            <a:endParaRPr lang="en-US" sz="5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66FD2F-248A-4AA1-8078-E26D6E69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571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6C07-08C6-B03B-A218-535AE37C1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93" y="0"/>
            <a:ext cx="9905999" cy="1360898"/>
          </a:xfrm>
        </p:spPr>
        <p:txBody>
          <a:bodyPr/>
          <a:lstStyle/>
          <a:p>
            <a:r>
              <a:rPr lang="en-US"/>
              <a:t>UML diagram overview</a:t>
            </a:r>
          </a:p>
        </p:txBody>
      </p:sp>
      <p:pic>
        <p:nvPicPr>
          <p:cNvPr id="5" name="Content Placeholder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B0D462A8-7686-2517-4F4B-55380DF673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728" y="3685416"/>
            <a:ext cx="4790266" cy="2976599"/>
          </a:xfr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5C8D5D8-C260-D5A5-0AF9-1A3CBD03D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362" y="386895"/>
            <a:ext cx="4193213" cy="3097347"/>
          </a:xfrm>
          <a:prstGeom prst="rect">
            <a:avLst/>
          </a:prstGeom>
        </p:spPr>
      </p:pic>
      <p:pic>
        <p:nvPicPr>
          <p:cNvPr id="9" name="Picture 8" descr="A diagram of a network&#10;&#10;AI-generated content may be incorrect.">
            <a:extLst>
              <a:ext uri="{FF2B5EF4-FFF2-40B4-BE49-F238E27FC236}">
                <a16:creationId xmlns:a16="http://schemas.microsoft.com/office/drawing/2014/main" id="{94700D23-9285-BDD9-F323-38C85E0788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49" y="982197"/>
            <a:ext cx="4102590" cy="1906741"/>
          </a:xfrm>
          <a:prstGeom prst="rect">
            <a:avLst/>
          </a:prstGeom>
        </p:spPr>
      </p:pic>
      <p:pic>
        <p:nvPicPr>
          <p:cNvPr id="11" name="Picture 10" descr="A diagram with text and a circle&#10;&#10;AI-generated content may be incorrect.">
            <a:extLst>
              <a:ext uri="{FF2B5EF4-FFF2-40B4-BE49-F238E27FC236}">
                <a16:creationId xmlns:a16="http://schemas.microsoft.com/office/drawing/2014/main" id="{18F6F06A-8F9E-9EBD-1326-394A3EA429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72" y="4968979"/>
            <a:ext cx="5959367" cy="1693036"/>
          </a:xfrm>
          <a:prstGeom prst="rect">
            <a:avLst/>
          </a:prstGeom>
        </p:spPr>
      </p:pic>
      <p:pic>
        <p:nvPicPr>
          <p:cNvPr id="13" name="Picture 12" descr="A diagram of a user&#10;&#10;AI-generated content may be incorrect.">
            <a:extLst>
              <a:ext uri="{FF2B5EF4-FFF2-40B4-BE49-F238E27FC236}">
                <a16:creationId xmlns:a16="http://schemas.microsoft.com/office/drawing/2014/main" id="{81D99812-46C4-9520-965A-B2C025E3B5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72" y="2946058"/>
            <a:ext cx="4790265" cy="196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987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7628-A498-EB8C-2B5C-587CB0839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PART 5 Use Case TM911: User Review &amp; Rating</a:t>
            </a:r>
            <a:br>
              <a:rPr lang="en-US" altLang="en-US"/>
            </a:br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732DB7-BF7D-87F5-3FD0-296A4937DD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0" y="3638531"/>
            <a:ext cx="967656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 Case TM911: User Review &amp; Rating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Let users post a review (1–5★) on a restaurant/menu item to improve discovery &amp; quality.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C44FA8C-2822-875E-1915-F00D12F67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691883"/>
            <a:ext cx="990098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/>
              <a:t>Goal: Let users post a review (1–5★) on a restaurant/menu item to improve discovery &amp; quality.</a:t>
            </a:r>
            <a:br>
              <a:rPr lang="en-US" altLang="en-US"/>
            </a:br>
            <a:r>
              <a:rPr lang="en-US" altLang="en-US"/>
              <a:t>Primary Actor: Registered User</a:t>
            </a:r>
            <a:br>
              <a:rPr lang="en-US" altLang="en-US"/>
            </a:br>
            <a:r>
              <a:rPr lang="en-US" altLang="en-US"/>
              <a:t>Stakeholders: Other diners (relevance), Restaurant owners (feedback), </a:t>
            </a:r>
            <a:r>
              <a:rPr lang="en-US" altLang="en-US" err="1"/>
              <a:t>MenuMap</a:t>
            </a:r>
            <a:r>
              <a:rPr lang="en-US" altLang="en-US"/>
              <a:t> (integrity)</a:t>
            </a:r>
            <a:br>
              <a:rPr lang="en-US" altLang="en-US"/>
            </a:br>
            <a:r>
              <a:rPr lang="en-US" altLang="en-US"/>
              <a:t>Preconditions: User is identified; restaurant/menu item exists</a:t>
            </a:r>
            <a:br>
              <a:rPr lang="en-US" altLang="en-US"/>
            </a:br>
            <a:r>
              <a:rPr lang="en-US" altLang="en-US"/>
              <a:t>Trigger: User taps “Write a review”</a:t>
            </a:r>
            <a:br>
              <a:rPr lang="en-US" altLang="en-US"/>
            </a:br>
            <a:r>
              <a:rPr lang="en-US" altLang="en-US"/>
              <a:t>Main Flow (happy path):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/>
              <a:t>User selects restaurant/menu item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altLang="en-US"/>
              <a:t>Enters rating, title, text, optional photos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n-US" altLang="en-US"/>
              <a:t>System runs spam/toxicity checks &amp; PII redaction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n-US" altLang="en-US"/>
              <a:t>Review saved; average rating recalculated; feed updates</a:t>
            </a:r>
            <a:br>
              <a:rPr lang="en-US" altLang="en-US"/>
            </a:br>
            <a:r>
              <a:rPr lang="en-US" altLang="en-US"/>
              <a:t>Alternate/Exceptions:</a:t>
            </a:r>
            <a:br>
              <a:rPr lang="en-US" altLang="en-US"/>
            </a:br>
            <a:r>
              <a:rPr lang="en-US" altLang="en-US"/>
              <a:t>– Fails checks → send for manual moderation / request edits</a:t>
            </a:r>
            <a:br>
              <a:rPr lang="en-US" altLang="en-US"/>
            </a:br>
            <a:r>
              <a:rPr lang="en-US" altLang="en-US"/>
              <a:t>– Duplicate/brigading detected → throttle/flag</a:t>
            </a:r>
            <a:br>
              <a:rPr lang="en-US" altLang="en-US"/>
            </a:br>
            <a:r>
              <a:rPr lang="en-US" altLang="en-US"/>
              <a:t>Postconditions: Review visible; audit log written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11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9119A82-5AB8-2966-BDC3-1E011BA1AA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1199441"/>
            <a:ext cx="849540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/>
              <a:t>TM911 Non-Functional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A855A3-A24C-2B52-5C20-69C0661107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0" y="2663387"/>
            <a:ext cx="1035231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Performance: Create/retrieve review ≤ 300 </a:t>
            </a:r>
            <a:r>
              <a:rPr lang="en-US" altLang="en-US" err="1"/>
              <a:t>ms</a:t>
            </a:r>
            <a:r>
              <a:rPr lang="en-US" altLang="en-US"/>
              <a:t> p95; list first 20 reviews ≤ 500 </a:t>
            </a:r>
            <a:r>
              <a:rPr lang="en-US" altLang="en-US" err="1"/>
              <a:t>ms</a:t>
            </a:r>
            <a:r>
              <a:rPr lang="en-US" altLang="en-US"/>
              <a:t> p95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Scalability: Support 50 writes/sec &amp; 500 reads/sec with horizontal read replicas + caching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Security/Privacy: Auto-redact emails/phone/credit cards; sanitize HTML (XSS)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Reliability: 99.9% monthly availability; durable writes (WAL + 3 replicas)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Integrity/Anti-abuse: Rate-limit (per user/IP/device); ML spam/toxicity score ≥ threshold; one rating per user per venue per 30 days (configurable)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Usability/Accessibility: WCAG 2.1 AA; mobile-first, clear stars &amp; character counter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Auditability: Immutable moderation log; reviewer history traceable (internal)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Legal/Compliance: Takedown workflow (owner &amp; user requests); data retention policy (e.g., 24 months for flagged content)</a:t>
            </a:r>
          </a:p>
        </p:txBody>
      </p:sp>
    </p:spTree>
    <p:extLst>
      <p:ext uri="{BB962C8B-B14F-4D97-AF65-F5344CB8AC3E}">
        <p14:creationId xmlns:p14="http://schemas.microsoft.com/office/powerpoint/2010/main" val="2547225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3CF6F2F-9B80-ACF9-1284-705C5CF309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830630"/>
            <a:ext cx="980802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/>
              <a:t>Security Use Case TM913: Two-Factor Authentication (2FA)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23ED1B4-B995-A7E6-78C0-810DA4F65F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154069"/>
            <a:ext cx="10352314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/>
              <a:t>Goal: Reduce account takeover by requiring a second factor for sensitive actions</a:t>
            </a:r>
            <a:br>
              <a:rPr lang="en-US" altLang="en-US"/>
            </a:br>
            <a:r>
              <a:rPr lang="en-US" altLang="en-US"/>
              <a:t>Primary Actor: Account Owner</a:t>
            </a:r>
            <a:br>
              <a:rPr lang="en-US" altLang="en-US"/>
            </a:br>
            <a:r>
              <a:rPr lang="en-US" altLang="en-US"/>
              <a:t>Scope (not login/logout itself): Enable 2FA &amp; Verify OTP for sensitive actions (e.g., posting first review, changing email, deleting account)</a:t>
            </a:r>
            <a:br>
              <a:rPr lang="en-US" altLang="en-US"/>
            </a:br>
            <a:r>
              <a:rPr lang="en-US" altLang="en-US"/>
              <a:t>Preconditions: User identity verified; at least one factor available (email/SMS/app)</a:t>
            </a:r>
            <a:br>
              <a:rPr lang="en-US" altLang="en-US"/>
            </a:br>
            <a:r>
              <a:rPr lang="en-US" altLang="en-US"/>
              <a:t>Trigger: User chooses “Enable 2FA” or performs a protected action</a:t>
            </a:r>
            <a:br>
              <a:rPr lang="en-US" altLang="en-US"/>
            </a:br>
            <a:r>
              <a:rPr lang="en-US" altLang="en-US"/>
              <a:t>Main Flow (Enable):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/>
              <a:t>User selects factor (TOTP app, SMS, or email)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altLang="en-US"/>
              <a:t>System shows QR/secret or sends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n-US" altLang="en-US"/>
              <a:t>User enters code → system verifies &amp; marks 2FA enabled; issues recovery codes</a:t>
            </a:r>
            <a:br>
              <a:rPr lang="en-US" altLang="en-US"/>
            </a:br>
            <a:r>
              <a:rPr lang="en-US" altLang="en-US"/>
              <a:t>Main Flow (Verify for protected action): Prompt → enter OTP → proceed</a:t>
            </a:r>
            <a:br>
              <a:rPr lang="en-US" altLang="en-US"/>
            </a:br>
            <a:r>
              <a:rPr lang="en-US" altLang="en-US"/>
              <a:t>Alternate/Exceptions: Code expired/invalid → retry; lost device → recovery codes / support</a:t>
            </a:r>
            <a:br>
              <a:rPr lang="en-US" altLang="en-US"/>
            </a:br>
            <a:r>
              <a:rPr lang="en-US" altLang="en-US"/>
              <a:t>Postconditions: 2FA active; sensitive action executed only after successful OTP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041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734A71A-86AB-718C-93AF-C78C7F318A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1199441"/>
            <a:ext cx="857722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/>
              <a:t>TM913 Non-Functional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854511B-ACB2-CD47-AACE-A02989972A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0" y="2838314"/>
            <a:ext cx="1042349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Security: TOTP (RFC 6238); codes 30 s window; 6–8 digits; max 5 attempts then cool-down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Storage: Secrets hashed/peppered or encrypted at rest; recovery codes one-time, hashed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Transport: All OTP, QR, and recovery flows over TLS 1.2+; HSTS enabled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Availability: 99.9% for 2FA verification API; fallback channel (email if SMS down)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Performance: OTP verify ≤ 200 </a:t>
            </a:r>
            <a:r>
              <a:rPr lang="en-US" altLang="en-US" err="1"/>
              <a:t>ms</a:t>
            </a:r>
            <a:r>
              <a:rPr lang="en-US" altLang="en-US"/>
              <a:t> p95; enable flow ≤ 800 </a:t>
            </a:r>
            <a:r>
              <a:rPr lang="en-US" altLang="en-US" err="1"/>
              <a:t>ms</a:t>
            </a:r>
            <a:r>
              <a:rPr lang="en-US" altLang="en-US"/>
              <a:t> p95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Usability: Clear setup wizard; 2 backup codes shown + downloadable; time-drift help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Audit: Log enable/disable, verification successes/failures, channel used, IP/device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/>
              <a:t>Compliance: Respect user locale/phone rules; opt-in messaging; accessible error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states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812706"/>
      </p:ext>
    </p:extLst>
  </p:cSld>
  <p:clrMapOvr>
    <a:masterClrMapping/>
  </p:clrMapOvr>
</p:sld>
</file>

<file path=ppt/theme/theme1.xml><?xml version="1.0" encoding="utf-8"?>
<a:theme xmlns:a="http://schemas.openxmlformats.org/drawingml/2006/main" name="RegattaVTI">
  <a:themeElements>
    <a:clrScheme name="Regatta Yellow">
      <a:dk1>
        <a:sysClr val="windowText" lastClr="000000"/>
      </a:dk1>
      <a:lt1>
        <a:sysClr val="window" lastClr="FFFFFF"/>
      </a:lt1>
      <a:dk2>
        <a:srgbClr val="181C30"/>
      </a:dk2>
      <a:lt2>
        <a:srgbClr val="C8E1F4"/>
      </a:lt2>
      <a:accent1>
        <a:srgbClr val="217ED3"/>
      </a:accent1>
      <a:accent2>
        <a:srgbClr val="B92525"/>
      </a:accent2>
      <a:accent3>
        <a:srgbClr val="18558C"/>
      </a:accent3>
      <a:accent4>
        <a:srgbClr val="1D8B35"/>
      </a:accent4>
      <a:accent5>
        <a:srgbClr val="EA75AA"/>
      </a:accent5>
      <a:accent6>
        <a:srgbClr val="F5A700"/>
      </a:accent6>
      <a:hlink>
        <a:srgbClr val="DB0000"/>
      </a:hlink>
      <a:folHlink>
        <a:srgbClr val="066BB6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e40b700-d418-4e4f-8ece-6cf46714e2d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A353BABBD06E42A5EB6AC7CE39625B" ma:contentTypeVersion="6" ma:contentTypeDescription="Create a new document." ma:contentTypeScope="" ma:versionID="359589e4842959a1465abd6b6d1b404b">
  <xsd:schema xmlns:xsd="http://www.w3.org/2001/XMLSchema" xmlns:xs="http://www.w3.org/2001/XMLSchema" xmlns:p="http://schemas.microsoft.com/office/2006/metadata/properties" xmlns:ns3="ce40b700-d418-4e4f-8ece-6cf46714e2d3" targetNamespace="http://schemas.microsoft.com/office/2006/metadata/properties" ma:root="true" ma:fieldsID="7d12c1481993bd824d6e6649171de0f5" ns3:_="">
    <xsd:import namespace="ce40b700-d418-4e4f-8ece-6cf46714e2d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40b700-d418-4e4f-8ece-6cf46714e2d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8AA766-969B-4040-A762-2525B026ECDD}">
  <ds:schemaRefs>
    <ds:schemaRef ds:uri="ce40b700-d418-4e4f-8ece-6cf46714e2d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D6F0FEF-1507-4C3B-8CC7-4A27544475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954E07-36D3-4D2A-A656-F8AB5A157A98}">
  <ds:schemaRefs>
    <ds:schemaRef ds:uri="ce40b700-d418-4e4f-8ece-6cf46714e2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RegattaVTI</vt:lpstr>
      <vt:lpstr>mENUmap</vt:lpstr>
      <vt:lpstr>Purpose of system and scope </vt:lpstr>
      <vt:lpstr>PowerPoint Presentation</vt:lpstr>
      <vt:lpstr>UML diagram of use cases that will be implemented </vt:lpstr>
      <vt:lpstr>UC-001: Browse Restaurant Menus </vt:lpstr>
      <vt:lpstr>UC-002: Manage Favorites</vt:lpstr>
      <vt:lpstr>UC-003: Secure Password Reset (Security Use Case)</vt:lpstr>
      <vt:lpstr>UML Diagrams Overview</vt:lpstr>
      <vt:lpstr>[Security] TM905- Recovery Use Case</vt:lpstr>
      <vt:lpstr>TM907- Export Data</vt:lpstr>
      <vt:lpstr>TM908- Search Menu Items</vt:lpstr>
      <vt:lpstr>TM911: User Review &amp; Rating System – Use Case Diagram</vt:lpstr>
      <vt:lpstr>TM912: Personalized Recommendation Engine</vt:lpstr>
      <vt:lpstr>TM913: Two-Factor Authentication (Security)</vt:lpstr>
      <vt:lpstr>UML diagram overview</vt:lpstr>
      <vt:lpstr>PART 5 Use Case TM911: User Review &amp; Rating </vt:lpstr>
      <vt:lpstr>TM911 Non-Functional Requirements</vt:lpstr>
      <vt:lpstr>Security Use Case TM913: Two-Factor Authentication (2FA)</vt:lpstr>
      <vt:lpstr>TM913 Non-Functional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Evelio Gonzalez</dc:creator>
  <cp:revision>14</cp:revision>
  <dcterms:created xsi:type="dcterms:W3CDTF">2025-10-01T05:00:44Z</dcterms:created>
  <dcterms:modified xsi:type="dcterms:W3CDTF">2025-12-04T00:16:27Z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0x010100B3A353BABBD06E42A5EB6AC7CE39625B</vt:lpwstr>
  </property>
</Properties>
</file>